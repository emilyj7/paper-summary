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paper-summary는 Claude Code에서 논문 조사, 요약 저장, 자동 인용까지 한 번에 하는 스킬입니다.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평소에는 Claude에게 말로 시키면 됩니다. 명령어를 외울 필요는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Claude에게 설치를 맡기면 clone과 패키지 설치를 대신 합니다. 주제 검색만 SciSpace 커넥터가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SciSpace의 한계 항목은 초록 기반이라 빈약할 수 있어, 저자가 명시한 한계만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디스크가 부족하면 'PDF는 지워줘'라고 하면 --no-pdf로 추출만 하고 PDF는 남기지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APA는 저자 알파벳순, IEEE는 본문 첫 등장 순서로 번호를 매깁니다.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언론 기사나 재게시 페이지는 원문을 찾는 실마리로만 쓰고, 인용은 원 발행 기관 자료로 합니다. 로그인이 필요한 PDF는 내려받아 경로를 알려 주면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처음에 /paper-summary를 붙이면 이 스킬을 확실히 씁니다. 붙이지 않아도 논문·참고문헌 관련 말이면 Claude가 알아서 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citekey는 제1저자 성 + 연도 + 제목 첫 단어. 같은 DOI를 다시 넣으면 기존 폴더를 갱신합니다.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질문은 저장소 이슈로 남겨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FD3C8"/>
                </a:solidFill>
                <a:latin typeface="맑은 고딕"/>
                <a:ea typeface="맑은 고딕"/>
              </a:rPr>
              <a:t>Claude Code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paper-summary
사용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DDA"/>
                </a:solidFill>
                <a:latin typeface="맑은 고딕"/>
                <a:ea typeface="맑은 고딕"/>
              </a:rPr>
              <a:t>논문을 찾고 · 요약해 쌓아 두고 · 글을 쓸 때 참고문헌을 자동으로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D3C8"/>
                </a:solidFill>
                <a:latin typeface="Consolas"/>
                <a:ea typeface="맑은 고딕"/>
              </a:rPr>
              <a:t>github.com/emilyJ7/paper-summary</a:t>
            </a:r>
          </a:p>
        </p:txBody>
      </p:sp>
      <p:sp>
        <p:nvSpPr>
          <p:cNvPr id="6" name="Oval 5"/>
          <p:cNvSpPr/>
          <p:nvPr/>
        </p:nvSpPr>
        <p:spPr>
          <a:xfrm>
            <a:off x="9052560" y="1737360"/>
            <a:ext cx="1737360" cy="173736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조사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2880360"/>
            <a:ext cx="1737360" cy="173736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8" name="Oval 7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세 단계로 쓰는 논문 비서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Zotero·LLM API 키 없이 — 서지는 무료 공개 API, 요약은 Claude가 대화 안에서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474720" cy="429768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58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E2F2E"/>
                </a:solidFill>
                <a:latin typeface="맑은 고딕"/>
                <a:ea typeface="맑은 고딕"/>
              </a:rPr>
              <a:t>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주제로 논문을 검색·선별하고
비교표와 함께 종합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4343400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62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C5A"/>
                </a:solidFill>
                <a:latin typeface="맑은 고딕"/>
                <a:ea typeface="맑은 고딕"/>
              </a:rPr>
              <a:t>Claude에게 이렇게 말하기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/paper-summary rPPG 기반
HRV 추정 연구 정리해줘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920240"/>
            <a:ext cx="3474720" cy="429768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19" y="219456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258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E2F2E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0632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서지·본문·그림을 라이브러리에
저장하고 요약 노트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999" y="4343400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462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C5A"/>
                </a:solidFill>
                <a:latin typeface="맑은 고딕"/>
                <a:ea typeface="맑은 고딕"/>
              </a:rPr>
              <a:t>Claude에게 이렇게 말하기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이 논문 라이브러리에 추가하고
요약해줘: 2510.27028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920240"/>
            <a:ext cx="3474720" cy="429768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59" y="2194560"/>
            <a:ext cx="566928" cy="566928"/>
          </a:xfrm>
          <a:prstGeom prst="ellipse">
            <a:avLst/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258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E2F2E"/>
                </a:solidFill>
                <a:latin typeface="맑은 고딕"/>
                <a:ea typeface="맑은 고딕"/>
              </a:rPr>
              <a:t>인용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30632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요약을 재료로 글을 쓰고
참고문헌을 자동으로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343400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4462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C5A"/>
                </a:solidFill>
                <a:latin typeface="맑은 고딕"/>
                <a:ea typeface="맑은 고딕"/>
              </a:rPr>
              <a:t>Claude에게 이렇게 말하기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HRV 논문들로 서론 쓰고
참고문헌 APA로 달아줘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설치도 말 한마디로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필요한 것: Claude Code · Python 3.9 이상 ·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233172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Claude에게 이렇게 말하기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1F292B"/>
                </a:solidFill>
                <a:latin typeface="맑은 고딕"/>
                <a:ea typeface="맑은 고딕"/>
              </a:rPr>
              <a:t>“https://github.com/emilyJ7/paper-summary 스킬을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1F292B"/>
                </a:solidFill>
                <a:latin typeface="맑은 고딕"/>
                <a:ea typeface="맑은 고딕"/>
              </a:rPr>
              <a:t>~/.claude/skills/paper-summary에 설치하고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1F292B"/>
                </a:solidFill>
                <a:latin typeface="맑은 고딕"/>
                <a:ea typeface="맑은 고딕"/>
              </a:rPr>
              <a:t>필요한 파이썬 패키지도 설치해줘”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6949440" cy="1188720"/>
          </a:xfrm>
          <a:prstGeom prst="roundRect">
            <a:avLst>
              <a:gd name="adj" fmla="val 4000"/>
            </a:avLst>
          </a:prstGeom>
          <a:solidFill>
            <a:srgbClr val="1B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53712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FD3C8"/>
                </a:solidFill>
                <a:latin typeface="맑은 고딕"/>
                <a:ea typeface="맑은 고딕"/>
              </a:rPr>
              <a:t>직접 설치할 때 (Git Bash · macOS · Linux)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DEE"/>
                </a:solidFill>
                <a:latin typeface="Consolas"/>
                <a:ea typeface="맑은 고딕"/>
              </a:rPr>
              <a:t>git clone https://github.com/emilyJ7/paper-summary.git ~/.claude/skills/paper-summary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6EDEE"/>
                </a:solidFill>
                <a:latin typeface="Consolas"/>
                <a:ea typeface="맑은 고딕"/>
              </a:rPr>
              <a:t>python -m pip install -r ~/.claude/skills/paper-summary/requirements.txt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8308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57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2F2E"/>
                </a:solidFill>
                <a:latin typeface="맑은 고딕"/>
                <a:ea typeface="맑은 고딕"/>
              </a:rPr>
              <a:t>설치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517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Claude Code 재시작 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“arXiv 2510.27028 논문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라이브러리에 추가해봐”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114800"/>
            <a:ext cx="3794760" cy="219456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92440" y="4343400"/>
            <a:ext cx="457200" cy="457200"/>
          </a:xfrm>
          <a:prstGeom prst="ellipse">
            <a:avLst/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3891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2F2E"/>
                </a:solidFill>
                <a:latin typeface="맑은 고딕"/>
                <a:ea typeface="맑은 고딕"/>
              </a:rPr>
              <a:t>SciSpace 연결 (선택)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9834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claude.ai → 설정 → 커넥터에서 각자 연결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없어도 DOI·PDF로 추가·요약·인용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① 주제로 문헌 조사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“/paper-summary 최근 3년 LLM 에이전트 메모리 연구 10편 비교해줘”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71016" y="233172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2F2E"/>
                </a:solidFill>
                <a:latin typeface="맑은 고딕"/>
                <a:ea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주제를 영어
검색 질문으로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87752" y="3154680"/>
            <a:ext cx="219456" cy="274320"/>
          </a:xfrm>
          <a:prstGeom prst="rightArrow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6" y="233172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2F2E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SciSpace에서
찾고 중복 제거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3752" y="3154680"/>
            <a:ext cx="219456" cy="274320"/>
          </a:xfrm>
          <a:prstGeom prst="rightArrow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1031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43016" y="233172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30632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2F2E"/>
                </a:solidFill>
                <a:latin typeface="맑은 고딕"/>
                <a:ea typeface="맑은 고딕"/>
              </a:rPr>
              <a:t>선별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3566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관련성·최신성·
동료심사로 5~10편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9752" y="3154680"/>
            <a:ext cx="219456" cy="274320"/>
          </a:xfrm>
          <a:prstGeom prst="rightArrow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1031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29016" y="233172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0632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2F2E"/>
                </a:solidFill>
                <a:latin typeface="맑은 고딕"/>
                <a:ea typeface="맑은 고딕"/>
              </a:rPr>
              <a:t>보강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566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PubMed·alphaXiv
추가 검색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45752" y="3154680"/>
            <a:ext cx="219456" cy="274320"/>
          </a:xfrm>
          <a:prstGeom prst="rightArrow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21031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D8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15016" y="2331720"/>
            <a:ext cx="566928" cy="566928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0632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E2F2E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566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요약·비교표·
연구 공백·참고문헌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5C5A"/>
                </a:solidFill>
                <a:latin typeface="맑은 고딕"/>
                <a:ea typeface="맑은 고딕"/>
              </a:rPr>
              <a:t>이어서 말하기  </a:t>
            </a: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“여기서 고른 논문들 라이브러리에도 등록해줘”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/>
            </a: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                       “이 결과 한글(hwpx) 문서로 만들어줘”  ·  “2번하고 5번 논문만 자세히 비교해줘”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② 논문 한 편 저장과 요약 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“이 논문 라이브러리에 추가하고 요약해줘: &lt;DOI · arXiv 번호 · PDF 경로&gt;”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105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서지 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5798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Crossref·arXiv·OpenAlex (무료, 키 불필요)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791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본문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2666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text.md — &lt;!-- page N --&gt; 쪽 표시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478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953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Figure N 캡션 기준으로 잘라 JPG 저장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165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요약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764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summary.md — 문장마다 [@키, p. N]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B5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3270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index.html — 브라우저로 열람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783080"/>
            <a:ext cx="4983480" cy="2514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57400"/>
            <a:ext cx="4526280" cy="16042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03720" y="3798811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C6B6D"/>
                </a:solidFill>
                <a:latin typeface="맑은 고딕"/>
                <a:ea typeface="맑은 고딕"/>
              </a:rPr>
              <a:t>자동 추출 예 — Rouast (2025), Fig. 4 · CC BY-NC-SA 4.0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526280"/>
            <a:ext cx="4983480" cy="114300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68172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유료 논문은 서지·초록만 저장 (PDF대기)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2B"/>
                </a:solidFill>
                <a:latin typeface="맑은 고딕"/>
                <a:ea typeface="맑은 고딕"/>
              </a:rPr>
              <a:t>PDF를 받으면 “이 PDF로 정리해줘: &lt;경로&gt;”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③ 글을 쓰면 참고문헌이 따라온다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“라이브러리 HRV 논문들로 연구 배경 써주고 참고문헌 APA로 달아줘”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120640" cy="1481328"/>
          </a:xfrm>
          <a:prstGeom prst="roundRect">
            <a:avLst>
              <a:gd name="adj" fmla="val 4000"/>
            </a:avLst>
          </a:prstGeom>
          <a:solidFill>
            <a:srgbClr val="1B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FD3C8"/>
                </a:solidFill>
                <a:latin typeface="맑은 고딕"/>
                <a:ea typeface="맑은 고딕"/>
              </a:rPr>
              <a:t>내 원고 (인용 자리에 키만)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66344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E"/>
                </a:solidFill>
                <a:latin typeface="Consolas"/>
                <a:ea typeface="맑은 고딕"/>
              </a:rPr>
              <a:t>얼굴 영상 HRV는 SDNN 오차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E"/>
                </a:solidFill>
                <a:latin typeface="Consolas"/>
                <a:ea typeface="맑은 고딕"/>
              </a:rPr>
              <a:t>3.54 ms 수준으로 보고됨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E"/>
                </a:solidFill>
                <a:latin typeface="Consolas"/>
                <a:ea typeface="맑은 고딕"/>
              </a:rPr>
              <a:t>[@Pstras2026estimating, p. 7].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06440" y="2514600"/>
            <a:ext cx="548640" cy="457200"/>
          </a:xfrm>
          <a:prstGeom prst="rightArrow">
            <a:avLst/>
          </a:prstGeom>
          <a:solidFill>
            <a:srgbClr val="E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3017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89B2E"/>
                </a:solidFill>
                <a:latin typeface="맑은 고딕"/>
                <a:ea typeface="맑은 고딕"/>
              </a:rPr>
              <a:t>“달아줘”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3852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5C5A"/>
                </a:solidFill>
                <a:latin typeface="맑은 고딕"/>
                <a:ea typeface="맑은 고딕"/>
              </a:rPr>
              <a:t>APA  </a:t>
            </a: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… 보고됨 (Pstras et al., 2026, p. 7).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83464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89864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5C5A"/>
                </a:solidFill>
                <a:latin typeface="맑은 고딕"/>
                <a:ea typeface="맑은 고딕"/>
              </a:rPr>
              <a:t>IEEE  </a:t>
            </a: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… 보고됨 [1, p. 7].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160520"/>
          <a:ext cx="11109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120640"/>
                <a:gridCol w="2971800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원고에 쓰는 형식</a:t>
                      </a:r>
                    </a:p>
                  </a:txBody>
                  <a:tcPr>
                    <a:solidFill>
                      <a:srgbClr val="0B5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APA</a:t>
                      </a:r>
                    </a:p>
                  </a:txBody>
                  <a:tcPr>
                    <a:solidFill>
                      <a:srgbClr val="0B5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IEEE</a:t>
                      </a:r>
                    </a:p>
                  </a:txBody>
                  <a:tcPr>
                    <a:solidFill>
                      <a:srgbClr val="0B5C5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Consolas"/>
                        </a:rPr>
                        <a:t>[@키]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(Pstras et al., 2026)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[1]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Consolas"/>
                        </a:rPr>
                        <a:t>[@키, p. 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(…, 2026, p.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[1, p. 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Consolas"/>
                        </a:rPr>
                        <a:t>[@키1; @키2]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(Pstras et al., 2026; Rouast, 2025)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2B"/>
                          </a:solidFill>
                          <a:latin typeface="맑은 고딕"/>
                        </a:rPr>
                        <a:t>[1, 2]</a:t>
                      </a:r>
                    </a:p>
                  </a:txBody>
                  <a:tcPr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6D"/>
                </a:solidFill>
                <a:latin typeface="맑은 고딕"/>
                <a:ea typeface="맑은 고딕"/>
              </a:rPr>
              <a:t>“draft.md 참고문헌 IEEE로 달아줘” · “한글 문서용 표로” · 키를 모르면 “SDNN 다룬 논문 인용 키 알려줘”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④ 정책 보고서·보도자료도 같은 방식으로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“/paper-summary AI 인재정책 관련 국내외 정책 보고서와 논문 조사해줘”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국책연구기관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KDI · STEPI · KISTEP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입법조사처 · 예산정책처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8308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9385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정부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95728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부처 누리집 · 정책브리핑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보도자료 · 법령정보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78308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9385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2F2E"/>
                </a:solidFill>
                <a:latin typeface="맑은 고딕"/>
                <a:ea typeface="맑은 고딕"/>
              </a:rPr>
              <a:t>국제기구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95728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OECD · World Bank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IMF · UN · 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73609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이렇게 말하기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6949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“이 보고서 정리해줘: &lt;PDF 경로 또는 URL&gt;”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“이 보도자료 정리해줘: &lt;페이지 URL&gt;”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“보고서 번호를 정책연구 2025-07로 고쳐줘”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92B"/>
                </a:solidFill>
                <a:latin typeface="맑은 고딕"/>
                <a:ea typeface="맑은 고딕"/>
              </a:rPr>
              <a:t>“인용 키를 STEPI2025인공지능으로 바꿔줘”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8308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9B2E"/>
                </a:solidFill>
                <a:latin typeface="맑은 고딕"/>
                <a:ea typeface="맑은 고딕"/>
              </a:rPr>
              <a:t>Claude가 하는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웹 검색으로 원 발행처 자료 찾기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PDF·웹페이지 본문 저장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표지·판권면을 읽고 기관·연도·보고서 번호 채우기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정책 배경·과제·예산·시사점 중심 요약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160520"/>
            <a:ext cx="30175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2976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C5A"/>
                </a:solidFill>
                <a:latin typeface="맑은 고딕"/>
                <a:ea typeface="맑은 고딕"/>
              </a:rPr>
              <a:t>인용 결과 (APA)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61772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2B"/>
                </a:solidFill>
                <a:latin typeface="맑은 고딕"/>
                <a:ea typeface="맑은 고딕"/>
              </a:rPr>
              <a:t>과학기술정책연구원. (2025). 인공지능 시대의 과학기술 인재정책 방향 (정책연구 2025-07).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이럴 땐 이렇게 말하세요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명령어를 외울 필요 없이 — Claude가 알아서 실행합니다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1109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가진 PDF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58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“Downloads 폴더의 paper.pdf 논문 요약해줘”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1109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저장한 논문 찾기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58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“라이브러리에서 SDNN 언급한 논문 찾아줘”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54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요약 다시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401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“Sampath2026adaptive 요약 HTML로 열어줘”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926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54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요약 고치기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01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“Limitations 부분 더 자세히 써줘”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197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수치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544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“이 수치 원문 몇 쪽인지 보여줘”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97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출처 찾아 인용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44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“이 문장에 맞는 출처 찾아서 인용 달아줘”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340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PDF 대기 목록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87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“PDF 기다리는 논문 목록 보여줘”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21208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3400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5C5A"/>
                </a:solidFill>
                <a:latin typeface="맑은 고딕"/>
                <a:ea typeface="맑은 고딕"/>
              </a:rPr>
              <a:t>스킬 업데이트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687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2B"/>
                </a:solidFill>
                <a:latin typeface="맑은 고딕"/>
                <a:ea typeface="맑은 고딕"/>
              </a:rPr>
              <a:t>“paper-summary 최신 버전으로 업데이트해줘”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F2E"/>
                </a:solidFill>
                <a:latin typeface="맑은 고딕"/>
                <a:ea typeface="맑은 고딕"/>
              </a:rPr>
              <a:t>라이브러리 구조와 자주 묻는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6D"/>
                </a:solidFill>
                <a:latin typeface="맑은 고딕"/>
                <a:ea typeface="맑은 고딕"/>
              </a:rPr>
              <a:t>기본 위치 ~/paper-library (환경 변수 PAPER_LIB로 변경)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212080" cy="2651760"/>
          </a:xfrm>
          <a:prstGeom prst="roundRect">
            <a:avLst>
              <a:gd name="adj" fmla="val 4000"/>
            </a:avLst>
          </a:prstGeom>
          <a:solidFill>
            <a:srgbClr val="1B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FD3C8"/>
                </a:solidFill>
                <a:latin typeface="맑은 고딕"/>
                <a:ea typeface="맑은 고딕"/>
              </a:rPr>
              <a:t>폴더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79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paper-library/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index.html   library.json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library.bib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papers/Pstras2026estimating/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  meta.json    paper.pdf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  text.md      figures/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6EDEE"/>
                </a:solidFill>
                <a:latin typeface="Consolas"/>
                <a:ea typeface="맑은 고딕"/>
              </a:rPr>
              <a:t>    summary.md   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83080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019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2F2E"/>
                </a:solidFill>
                <a:latin typeface="맑은 고딕"/>
                <a:ea typeface="맑은 고딕"/>
              </a:rPr>
              <a:t>Q. API 비용이 드나요?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6771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아니요. 무료 공개 API만 쓰고 요약은 대화 안에서 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898648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2F2E"/>
                </a:solidFill>
                <a:latin typeface="맑은 고딕"/>
                <a:ea typeface="맑은 고딕"/>
              </a:rPr>
              <a:t>Q. 그림이 잘못 잘렸어요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3832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캡션 기준이라 특이한 PDF는 놓칠 수 있고, 요약 때 걸러냄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14215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133087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2F2E"/>
                </a:solidFill>
                <a:latin typeface="맑은 고딕"/>
                <a:ea typeface="맑은 고딕"/>
              </a:rPr>
              <a:t>Q. 다른 PC로 옮기려면?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49884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paper-library 폴더를 통째로 복사. 공개 저장소엔 올리지 마세요.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129784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524865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2F2E"/>
                </a:solidFill>
                <a:latin typeface="맑은 고딕"/>
                <a:ea typeface="맑은 고딕"/>
              </a:rPr>
              <a:t>Q. 최신 버전 받기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61441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2B"/>
                </a:solidFill>
                <a:latin typeface="맑은 고딕"/>
                <a:ea typeface="맑은 고딕"/>
              </a:rPr>
              <a:t>“paper-summary 스킬 최신 버전으로 업데이트해줘”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지금 시작하기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DDA"/>
                </a:solidFill>
                <a:latin typeface="맑은 고딕"/>
                <a:ea typeface="맑은 고딕"/>
              </a:rPr>
              <a:t>Claude Code에서 이렇게 말해 보세요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5661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74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6732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/paper-summary  관심 주제를 정리해줘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D3C8"/>
                </a:solidFill>
                <a:latin typeface="Consolas"/>
                <a:ea typeface="맑은 고딕"/>
              </a:rPr>
              <a:t>github.com/emilyJ7/paper-summary  ·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