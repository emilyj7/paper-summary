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paper-summary는 Claude Code에서 논문 조사, 요약 저장, 자동 인용까지 한 번에 하는 스킬입니다.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평소에는 Claude에게 말로 시키면 됩니다. 명령어를 외울 필요는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주제 검색만 SciSpace 커넥터가 필요하고, 나머지 기능은 커넥터 없이 동작합니다.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SciSpace의 한계 항목은 초록 기반이라 빈약할 수 있어, 저자가 명시한 한계만 정리합니다.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디스크가 부족하면 'PDF는 지워줘'라고 하면 --no-pdf로 추출만 하고 PDF는 남기지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APA는 저자 알파벳순, IEEE는 본문 첫 등장 순서로 번호를 매깁니다.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평소에는 말로 시키면 Claude가 이 명령들을 대신 실행합니다.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citekey는 제1저자 성 + 연도 + 제목 첫 단어. 같은 DOI를 다시 넣으면 기존 폴더를 갱신합니다.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질문은 저장소 이슈로 남겨 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8FD3C8"/>
                </a:solidFill>
                <a:latin typeface="맑은 고딕"/>
                <a:ea typeface="맑은 고딕"/>
              </a:rPr>
              <a:t>Claude Code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paper-summary
사용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8046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C9DDDA"/>
                </a:solidFill>
                <a:latin typeface="맑은 고딕"/>
                <a:ea typeface="맑은 고딕"/>
              </a:rPr>
              <a:t>논문을 찾고 · 요약해 쌓아 두고 · 글을 쓸 때 참고문헌을 자동으로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FD3C8"/>
                </a:solidFill>
                <a:latin typeface="Consolas"/>
                <a:ea typeface="맑은 고딕"/>
              </a:rPr>
              <a:t>github.com/emilyJ7/paper-summary</a:t>
            </a:r>
          </a:p>
        </p:txBody>
      </p:sp>
      <p:sp>
        <p:nvSpPr>
          <p:cNvPr id="6" name="Oval 5"/>
          <p:cNvSpPr/>
          <p:nvPr/>
        </p:nvSpPr>
        <p:spPr>
          <a:xfrm>
            <a:off x="9052560" y="1737360"/>
            <a:ext cx="1737360" cy="173736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조사</a:t>
            </a:r>
          </a:p>
        </p:txBody>
      </p:sp>
      <p:sp>
        <p:nvSpPr>
          <p:cNvPr id="7" name="Oval 6"/>
          <p:cNvSpPr/>
          <p:nvPr/>
        </p:nvSpPr>
        <p:spPr>
          <a:xfrm>
            <a:off x="10287000" y="2880360"/>
            <a:ext cx="1737360" cy="173736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저장</a:t>
            </a:r>
          </a:p>
        </p:txBody>
      </p:sp>
      <p:sp>
        <p:nvSpPr>
          <p:cNvPr id="8" name="Oval 7"/>
          <p:cNvSpPr/>
          <p:nvPr/>
        </p:nvSpPr>
        <p:spPr>
          <a:xfrm>
            <a:off x="9052560" y="4023360"/>
            <a:ext cx="1737360" cy="1737360"/>
          </a:xfrm>
          <a:prstGeom prst="ellipse">
            <a:avLst/>
          </a:prstGeom>
          <a:solidFill>
            <a:srgbClr val="E89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세 단계로 쓰는 논문 비서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Zotero·LLM API 키 없이 — 서지는 무료 공개 API, 요약은 Claude가 대화 안에서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3474720" cy="4297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19456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2585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E2F2E"/>
                </a:solidFill>
                <a:latin typeface="맑은 고딕"/>
                <a:ea typeface="맑은 고딕"/>
              </a:rPr>
              <a:t>조사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주제로 논문을 검색·선별하고
비교표와 함께 종합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4343400"/>
            <a:ext cx="29260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4622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5C5A"/>
                </a:solidFill>
                <a:latin typeface="맑은 고딕"/>
                <a:ea typeface="맑은 고딕"/>
              </a:rPr>
              <a:t>Claude에게 이렇게 말하기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00600"/>
            <a:ext cx="2651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/paper-summary rPPG 기반
HRV 추정 연구 정리해줘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920240"/>
            <a:ext cx="3474720" cy="4297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19" y="219456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2585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E2F2E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19" y="306324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서지·본문·그림을 라이브러리에
저장하고 요약 노트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1999" y="4343400"/>
            <a:ext cx="29260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44622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5C5A"/>
                </a:solidFill>
                <a:latin typeface="맑은 고딕"/>
                <a:ea typeface="맑은 고딕"/>
              </a:rPr>
              <a:t>Claude에게 이렇게 말하기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4800600"/>
            <a:ext cx="2651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이 논문 라이브러리에 추가하고
요약해줘: 2510.27028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920240"/>
            <a:ext cx="3474720" cy="4297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66759" y="2194560"/>
            <a:ext cx="566928" cy="566928"/>
          </a:xfrm>
          <a:prstGeom prst="ellipse">
            <a:avLst/>
          </a:prstGeom>
          <a:solidFill>
            <a:srgbClr val="E89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2585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E2F2E"/>
                </a:solidFill>
                <a:latin typeface="맑은 고딕"/>
                <a:ea typeface="맑은 고딕"/>
              </a:rPr>
              <a:t>인용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306324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요약을 재료로 글을 쓰고
참고문헌을 자동으로 생성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4343400"/>
            <a:ext cx="29260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19" y="44622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5C5A"/>
                </a:solidFill>
                <a:latin typeface="맑은 고딕"/>
                <a:ea typeface="맑은 고딕"/>
              </a:rPr>
              <a:t>Claude에게 이렇게 말하기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4800600"/>
            <a:ext cx="2651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HRV 논문들로 서론 쓰고
참고문헌 APA로 달아줘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설치는 명령 두 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필요한 것: Claude Code · Python 3.9 이상 · git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6949440" cy="1773936"/>
          </a:xfrm>
          <a:prstGeom prst="roundRect">
            <a:avLst>
              <a:gd name="adj" fmla="val 4000"/>
            </a:avLst>
          </a:prstGeom>
          <a:solidFill>
            <a:srgbClr val="1B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D3C8"/>
                </a:solidFill>
                <a:latin typeface="맑은 고딕"/>
                <a:ea typeface="맑은 고딕"/>
              </a:rPr>
              <a:t>Windows (PowerShell)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6492240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EE"/>
                </a:solidFill>
                <a:latin typeface="Consolas"/>
                <a:ea typeface="맑은 고딕"/>
              </a:rPr>
              <a:t>git clone https://github.com/emilyJ7/paper-summary.git `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EE"/>
                </a:solidFill>
                <a:latin typeface="Consolas"/>
                <a:ea typeface="맑은 고딕"/>
              </a:rPr>
              <a:t>  "$HOME\.claude\skills\paper-summary"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EE"/>
                </a:solidFill>
                <a:latin typeface="Consolas"/>
                <a:ea typeface="맑은 고딕"/>
              </a:rPr>
              <a:t>python -m pip install -r `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EE"/>
                </a:solidFill>
                <a:latin typeface="Consolas"/>
                <a:ea typeface="맑은 고딕"/>
              </a:rPr>
              <a:t>  "$HOME\.claude\skills\paper-summary\requirements.txt"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831336"/>
            <a:ext cx="6949440" cy="1773936"/>
          </a:xfrm>
          <a:prstGeom prst="roundRect">
            <a:avLst>
              <a:gd name="adj" fmla="val 4000"/>
            </a:avLst>
          </a:prstGeom>
          <a:solidFill>
            <a:srgbClr val="1B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995928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D3C8"/>
                </a:solidFill>
                <a:latin typeface="맑은 고딕"/>
                <a:ea typeface="맑은 고딕"/>
              </a:rPr>
              <a:t>macOS / Linux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88536"/>
            <a:ext cx="6492240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EE"/>
                </a:solidFill>
                <a:latin typeface="Consolas"/>
                <a:ea typeface="맑은 고딕"/>
              </a:rPr>
              <a:t>git clone https://github.com/emilyJ7/paper-summary.git \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EE"/>
                </a:solidFill>
                <a:latin typeface="Consolas"/>
                <a:ea typeface="맑은 고딕"/>
              </a:rPr>
              <a:t>  ~/.claude/skills/paper-summary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EE"/>
                </a:solidFill>
                <a:latin typeface="Consolas"/>
                <a:ea typeface="맑은 고딕"/>
              </a:rPr>
              <a:t>python3 -m pip install -r \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EE"/>
                </a:solidFill>
                <a:latin typeface="Consolas"/>
                <a:ea typeface="맑은 고딕"/>
              </a:rPr>
              <a:t>  ~/.claude/skills/paper-summary/requirements.txt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783080"/>
            <a:ext cx="3794760" cy="21488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92440" y="2011680"/>
            <a:ext cx="457200" cy="45720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0574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E2F2E"/>
                </a:solidFill>
                <a:latin typeface="맑은 고딕"/>
                <a:ea typeface="맑은 고딕"/>
              </a:rPr>
              <a:t>설치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65176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B5C5A"/>
                </a:solidFill>
                <a:latin typeface="Consolas"/>
                <a:ea typeface="맑은 고딕"/>
              </a:rPr>
              <a:t>paperlib.py add 2510.27028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~/paper-library에 폴더가 생기면 성공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Claude Code를 다시 시작하면 스킬 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114800"/>
            <a:ext cx="3794760" cy="219456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4343400"/>
            <a:ext cx="457200" cy="457200"/>
          </a:xfrm>
          <a:prstGeom prst="ellipse">
            <a:avLst/>
          </a:prstGeom>
          <a:solidFill>
            <a:srgbClr val="E89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3891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E2F2E"/>
                </a:solidFill>
                <a:latin typeface="맑은 고딕"/>
                <a:ea typeface="맑은 고딕"/>
              </a:rPr>
              <a:t>SciSpace 연결 (선택)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498348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claude.ai → 설정 → 커넥터에서 각자 연결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없어도 DOI·PDF로 추가·요약·인용 가능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① 주제로 문헌 조사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/paper-summary &lt;주제&gt; — 기간·대상·편수 같은 조건이 있으면 함께 말하기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71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주제를 영어
검색 질문으로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87752" y="3154680"/>
            <a:ext cx="219456" cy="27432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57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SciSpace에서
찾고 중복 제거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73752" y="3154680"/>
            <a:ext cx="219456" cy="27432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43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79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선별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79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관련성·최신성·
동료심사로 5~10편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59752" y="3154680"/>
            <a:ext cx="219456" cy="27432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29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보강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PubMed·alphaXiv
추가 검색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45752" y="3154680"/>
            <a:ext cx="219456" cy="27432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D8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15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종합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요약·비교표·
연구 공백·참고문헌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3776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1206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5C5A"/>
                </a:solidFill>
                <a:latin typeface="맑은 고딕"/>
                <a:ea typeface="맑은 고딕"/>
              </a:rPr>
              <a:t>결과물 </a:t>
            </a: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Markdown 문헌 조사 보고서. 요청하면 Word·PDF·한글(hwpx)로도 만듭니다.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B5C5A"/>
                </a:solidFill>
                <a:latin typeface="맑은 고딕"/>
                <a:ea typeface="맑은 고딕"/>
              </a:rPr>
              <a:t>다음 단계 </a:t>
            </a: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"라이브러리에도 등록해줘" → 고른 논문을 ② 방식으로 저장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② 논문 한 편 저장과 요약 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입력: DOI · arXiv 번호/URL · PDF 파일 경로 · PDF URL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81051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서지 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15798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Crossref·arXiv·OpenAlex (무료, 키 불필요)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791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본문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2666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text.md — &lt;!-- page N --&gt; 쪽 표시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6616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4787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그림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89534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Figure N 캡션 기준으로 잘라 JPG 저장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4165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요약 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7640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summary.md — 문장마다 [@키, p. N]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30352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528523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보기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63270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index.html — 브라우저로 열람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1783080"/>
            <a:ext cx="4983480" cy="25146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i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057400"/>
            <a:ext cx="4526280" cy="160425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03720" y="3798811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6D"/>
                </a:solidFill>
                <a:latin typeface="맑은 고딕"/>
                <a:ea typeface="맑은 고딕"/>
              </a:rPr>
              <a:t>자동 추출 예 — Rouast (2025), Fig. 4 · CC BY-NC-SA 4.0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4526280"/>
            <a:ext cx="4983480" cy="1143000"/>
          </a:xfrm>
          <a:prstGeom prst="roundRect">
            <a:avLst>
              <a:gd name="adj" fmla="val 6000"/>
            </a:avLst>
          </a:prstGeom>
          <a:solidFill>
            <a:srgbClr val="FD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4681728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유료 논문은 서지·초록만 저장 (PDF대기)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받은 PDF를 넣으면 같은 항목에 본문·그림 채움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③ 글을 쓰면 참고문헌이 따라온다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원고에는 인용 키만 — 번호와 저자명은 cite가 채운다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120640" cy="1481328"/>
          </a:xfrm>
          <a:prstGeom prst="roundRect">
            <a:avLst>
              <a:gd name="adj" fmla="val 4000"/>
            </a:avLst>
          </a:prstGeom>
          <a:solidFill>
            <a:srgbClr val="1B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9339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D3C8"/>
                </a:solidFill>
                <a:latin typeface="맑은 고딕"/>
                <a:ea typeface="맑은 고딕"/>
              </a:rPr>
              <a:t>원고 (원본은 그대로 보존)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466344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E6EDEE"/>
                </a:solidFill>
                <a:latin typeface="Consolas"/>
                <a:ea typeface="맑은 고딕"/>
              </a:rPr>
              <a:t>얼굴 영상 HRV는 SDNN 오차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6EDEE"/>
                </a:solidFill>
                <a:latin typeface="Consolas"/>
                <a:ea typeface="맑은 고딕"/>
              </a:rPr>
              <a:t>3.54 ms 수준으로 보고됨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6EDEE"/>
                </a:solidFill>
                <a:latin typeface="Consolas"/>
                <a:ea typeface="맑은 고딕"/>
              </a:rPr>
              <a:t>[@Pstras2026estimating, p. 7].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06440" y="2514600"/>
            <a:ext cx="548640" cy="45720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3017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89B2E"/>
                </a:solidFill>
                <a:latin typeface="Consolas"/>
                <a:ea typeface="맑은 고딕"/>
              </a:rPr>
              <a:t>cite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828800"/>
            <a:ext cx="5120640" cy="868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193852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5C5A"/>
                </a:solidFill>
                <a:latin typeface="맑은 고딕"/>
                <a:ea typeface="맑은 고딕"/>
              </a:rPr>
              <a:t>APA  </a:t>
            </a: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… 보고됨 (Pstras et al., 2026, p. 7).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2834640"/>
            <a:ext cx="5120640" cy="868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289864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5C5A"/>
                </a:solidFill>
                <a:latin typeface="맑은 고딕"/>
                <a:ea typeface="맑은 고딕"/>
              </a:rPr>
              <a:t>IEEE  </a:t>
            </a: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… 보고됨 [1, p. 7].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16052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120640"/>
                <a:gridCol w="2971800"/>
              </a:tblGrid>
              <a:tr h="3886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원고에 쓰는 형식</a:t>
                      </a:r>
                    </a:p>
                  </a:txBody>
                  <a:tcPr>
                    <a:solidFill>
                      <a:srgbClr val="0B5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APA</a:t>
                      </a:r>
                    </a:p>
                  </a:txBody>
                  <a:tcPr>
                    <a:solidFill>
                      <a:srgbClr val="0B5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IEEE</a:t>
                      </a:r>
                    </a:p>
                  </a:txBody>
                  <a:tcPr>
                    <a:solidFill>
                      <a:srgbClr val="0B5C5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Consolas"/>
                        </a:rPr>
                        <a:t>[@키]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(Pstras et al., 2026)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[1]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Consolas"/>
                        </a:rPr>
                        <a:t>[@키, p. 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(…, 2026, p. 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[1, p. 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Consolas"/>
                        </a:rPr>
                        <a:t>[@키1; @키2]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(Pstras et al., 2026; Rouast, 2025)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[1, 2]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없는 키는 ??키로 표시 · --table 옵션은 한글 문서용 참고문헌 표 · library.bib는 LaTeX에서 그대로 사용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직접 실행할 때의 명령어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python ~/.claude/skills/paper-summary/scripts/paperlib.py &lt;명령&gt;  (macOS·Linux는 python3)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5C5A"/>
                </a:solidFill>
                <a:latin typeface="Consolas"/>
                <a:ea typeface="맑은 고딕"/>
              </a:rPr>
              <a:t>add &lt;입력&gt; [--no-pdf]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331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논문 등록, 본문·그림 추출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5C5A"/>
                </a:solidFill>
                <a:latin typeface="Consolas"/>
                <a:ea typeface="맑은 고딕"/>
              </a:rPr>
              <a:t>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라이브러리 목록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30540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5C5A"/>
                </a:solidFill>
                <a:latin typeface="Consolas"/>
                <a:ea typeface="맑은 고딕"/>
              </a:rPr>
              <a:t>search &lt;단어…&gt;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429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제목·초록·요약·본문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2608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0540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5C5A"/>
                </a:solidFill>
                <a:latin typeface="Consolas"/>
                <a:ea typeface="맑은 고딕"/>
              </a:rPr>
              <a:t>show &lt;citekey&gt;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429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서지 정보와 파일 목록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2336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5C5A"/>
                </a:solidFill>
                <a:latin typeface="Consolas"/>
                <a:ea typeface="맑은 고딕"/>
              </a:rPr>
              <a:t>cite &lt;원고.md&gt; [--style apa|ieee] [--table]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5262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인용 키 → 본문 인용 + 참고문헌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02336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5C5A"/>
                </a:solidFill>
                <a:latin typeface="Consolas"/>
                <a:ea typeface="맑은 고딕"/>
              </a:rPr>
              <a:t>render [citekey]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5262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요약 노트 → HTML 페이지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2064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5248655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5C5A"/>
                </a:solidFill>
                <a:latin typeface="Consolas"/>
                <a:ea typeface="맑은 고딕"/>
              </a:rPr>
              <a:t>rebuild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6235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library.json · library.bib 다시 만들기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라이브러리 구조와 자주 묻는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기본 위치 ~/paper-library (환경 변수 PAPER_LIB로 변경)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212080" cy="2651760"/>
          </a:xfrm>
          <a:prstGeom prst="roundRect">
            <a:avLst>
              <a:gd name="adj" fmla="val 4000"/>
            </a:avLst>
          </a:prstGeom>
          <a:solidFill>
            <a:srgbClr val="1B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D3C8"/>
                </a:solidFill>
                <a:latin typeface="맑은 고딕"/>
                <a:ea typeface="맑은 고딕"/>
              </a:rPr>
              <a:t>폴더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4754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paper-library/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index.html   library.json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library.bib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papers/Pstras2026estimating/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  meta.json    paper.pdf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  text.md      figures/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  summary.md   index.html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783080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90195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2F2E"/>
                </a:solidFill>
                <a:latin typeface="맑은 고딕"/>
                <a:ea typeface="맑은 고딕"/>
              </a:rPr>
              <a:t>Q. API 비용이 드나요?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26771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아니요. 무료 공개 API만 쓰고 요약은 대화 안에서 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898648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30175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2F2E"/>
                </a:solidFill>
                <a:latin typeface="맑은 고딕"/>
                <a:ea typeface="맑은 고딕"/>
              </a:rPr>
              <a:t>Q. 그림이 잘못 잘렸어요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3832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캡션 기준이라 특이한 PDF는 놓칠 수 있고, 요약 때 걸러냄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014215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4133087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2F2E"/>
                </a:solidFill>
                <a:latin typeface="맑은 고딕"/>
                <a:ea typeface="맑은 고딕"/>
              </a:rPr>
              <a:t>Q. 다른 PC로 옮기려면?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498848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paper-library 폴더를 통째로 복사. 공개 저장소엔 올리지 마세요.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5129784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5248656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2F2E"/>
                </a:solidFill>
                <a:latin typeface="맑은 고딕"/>
                <a:ea typeface="맑은 고딕"/>
              </a:rPr>
              <a:t>Q. 최신 버전 받기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614416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git -C ~/.claude/skills/paper-summary pull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지금 시작하기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9DDDA"/>
                </a:solidFill>
                <a:latin typeface="맑은 고딕"/>
                <a:ea typeface="맑은 고딕"/>
              </a:rPr>
              <a:t>Claude Code에서 이렇게 말해 보세요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56616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74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7673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/paper-summary  관심 주제를 정리해줘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FD3C8"/>
                </a:solidFill>
                <a:latin typeface="Consolas"/>
                <a:ea typeface="맑은 고딕"/>
              </a:rPr>
              <a:t>github.com/emilyJ7/paper-summary  ·  MIT 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